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4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D737C-AD03-435C-BC91-149826E36B71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AD154-73D5-4C30-B35C-3A127D1057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05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AD154-73D5-4C30-B35C-3A127D1057E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950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75A633-5219-165D-4E47-BC8D5C7B5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4E92E9-DC54-674E-F2E7-1F40D259E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D6B275-9706-8F22-8B2E-2DEBE2C0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C271FE-219F-57AA-FEA8-9ADD3DCE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D8D017-FD7E-A405-E0B4-2DA2C9A8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34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C4A5F0-0463-368B-9C29-03F7265CE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B7C0D8-C447-AFAA-2690-74BC8948E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C54115-DBBF-6254-69A1-59FA70BFB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1637AD-C9D7-9F62-E610-ECA2E172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89512-DC0F-E121-8522-EF2354BB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78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6F6A4-BD38-C48B-9488-8982293E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6B4FFA-33C7-4E25-7D9A-D057A80D8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C3A5E2-BFC5-71E9-B614-411C424B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320935-7FCC-06DF-2049-9CD3470C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2E766F-886B-7707-B757-C7F868B8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38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6EB1C-3B66-2C08-96B5-73A1DE7E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93B72A-E824-98EF-0EC7-500503B1C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5C07EB-1019-32F0-402A-716849C85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FCBBEB-BF53-DD29-B497-FCFFD442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0E068D-5A85-0786-4735-D9066EBD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0653F5-9534-519D-9A85-0EBEDE7E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38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8C2DB-DE38-4D7A-11E8-0E7E13CC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A1A8B3-334E-8A08-1743-DC6BD66BC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645406-3B27-B45F-4ECE-3B1A1EF03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CB249B-86FB-768B-FCB7-72B5AE5CB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38B694-1215-50AA-DCDC-4F84866C0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D715F9-9ED5-FD10-24A9-06A32859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9EF3075-FFC5-36C8-BB61-3122E517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9A1A4F-EA62-3D32-217A-AD9C0615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55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00595E-E210-5B8C-51F9-AA86D1431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8508ABC-FB7B-246B-1B48-BDB6E5FB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E60E5B-3575-34F8-20F6-50FEF95A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E08D5D-B0F5-C68B-AF09-9DCBE4D7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60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63107C-54FC-1942-6635-CA07CBE8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13BD21-6453-D475-C300-5A173B4D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19F959-1D6D-C928-EA8D-014CB2E4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20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DCF25-DACE-0F4E-8E66-AF435C0F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4B5E7C-D2FE-8495-EA3A-AF00F4622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38419B-D686-507A-1D90-9260468BB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88860F-26B2-F338-C387-516AF6B4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9ACFC5-ADD4-47FB-7C7F-69DAC051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0A0F7D-7560-95F8-7982-8547BE80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38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51703-865E-F48C-CDC9-ED7C21E7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2E63EC-2683-A4CC-AD3D-A85234481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9B1E7A-4D78-0EAE-DA68-E901D9BE7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E1DE10-0FE6-B9D7-2A70-AF46E9CD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C3B9B9-B1B2-75F0-BBFC-2C9BE500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A30E6E-8715-76EC-330D-1E4A708C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10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5B101-475F-E0EF-2E2D-A3DC8A23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869398-2B61-6CB6-B861-28FDBCA5E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F7AB49-ADAB-87A6-C28F-1F6BD1943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53E182-763C-186D-97E2-78D7C365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74DF1C-B539-A3B8-CB13-2F36D433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690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15ED852-B323-075B-6FFC-A94822C0D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470B1F-93F3-416B-CDEF-E1D8A0A50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1D9387-32A3-A52E-812D-A648B00C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18955A-5303-C6B0-B847-D95682A2B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AD05C1-B5A9-AAE9-CBB4-7A135AE9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62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38198-17E7-72D5-97BF-431D39AF6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AAB778-852D-F558-C695-7910D434B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76160E-A75F-E72F-3343-7FA58135F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12473E-5E88-4465-93CD-F50BE7DEDCEF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BEB672-5DDE-C605-FCD4-03F976681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D4B739-E72B-B57D-8583-D6A86BDC9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7FFCC-6C6C-4D16-9D28-7364EA1B03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3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7FD6C1B-B553-F751-90AF-B0B187864BD9}"/>
              </a:ext>
            </a:extLst>
          </p:cNvPr>
          <p:cNvSpPr/>
          <p:nvPr/>
        </p:nvSpPr>
        <p:spPr>
          <a:xfrm>
            <a:off x="2314936" y="114584"/>
            <a:ext cx="7595980" cy="2500797"/>
          </a:xfrm>
          <a:prstGeom prst="roundRect">
            <a:avLst>
              <a:gd name="adj" fmla="val 8297"/>
            </a:avLst>
          </a:prstGeom>
          <a:solidFill>
            <a:srgbClr val="D0CECE">
              <a:alpha val="38824"/>
            </a:srgb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ED2BC-DD73-17DA-784D-5509F82F5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3038"/>
            <a:ext cx="9144000" cy="1600200"/>
          </a:xfrm>
        </p:spPr>
        <p:txBody>
          <a:bodyPr>
            <a:normAutofit fontScale="90000"/>
          </a:bodyPr>
          <a:lstStyle/>
          <a:p>
            <a:r>
              <a:rPr lang="ru-RU" dirty="0"/>
              <a:t>«Деньги для вас»,</a:t>
            </a:r>
            <a:br>
              <a:rPr lang="ru-RU" dirty="0"/>
            </a:br>
            <a:r>
              <a:rPr lang="ru-RU" dirty="0"/>
              <a:t>а данные для нас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C9ED6E-F925-BA6E-D716-B3FC6441C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73238"/>
            <a:ext cx="9144000" cy="842143"/>
          </a:xfrm>
        </p:spPr>
        <p:txBody>
          <a:bodyPr/>
          <a:lstStyle/>
          <a:p>
            <a:r>
              <a:rPr lang="ru-RU" dirty="0"/>
              <a:t>Оптимизация функционала банковского приложения: повышение удобства использования.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69FAE-02F9-C698-EA3F-75FEED653BC4}"/>
              </a:ext>
            </a:extLst>
          </p:cNvPr>
          <p:cNvSpPr txBox="1"/>
          <p:nvPr/>
        </p:nvSpPr>
        <p:spPr>
          <a:xfrm>
            <a:off x="304800" y="5173756"/>
            <a:ext cx="37038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Над проектом работали: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/>
              <a:t>Вершанский</a:t>
            </a:r>
            <a:r>
              <a:rPr lang="ru-RU" sz="2400" dirty="0"/>
              <a:t> Глеб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err="1"/>
              <a:t>Костяникова</a:t>
            </a:r>
            <a:r>
              <a:rPr lang="ru-RU" sz="2400" dirty="0"/>
              <a:t> Полина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Спиридонов Павел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E8750-559F-0DCB-2FC7-D51BC5A9D5CA}"/>
              </a:ext>
            </a:extLst>
          </p:cNvPr>
          <p:cNvSpPr txBox="1"/>
          <p:nvPr/>
        </p:nvSpPr>
        <p:spPr>
          <a:xfrm>
            <a:off x="304800" y="2915172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Цели и задачи: </a:t>
            </a:r>
            <a:r>
              <a:rPr lang="ru-RU" sz="2400" dirty="0"/>
              <a:t>Проанализировать результаты эксперимента, оценить его успешность и построить модель для прогнозирования ежедневной посещаемости приложения, чтобы помочь банку в планировании ресурсов.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A42065D-232D-9844-3E1C-B80D2B56A157}"/>
              </a:ext>
            </a:extLst>
          </p:cNvPr>
          <p:cNvSpPr/>
          <p:nvPr/>
        </p:nvSpPr>
        <p:spPr>
          <a:xfrm>
            <a:off x="174983" y="2824666"/>
            <a:ext cx="11842034" cy="1390915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617FA6-4C74-9582-1793-C73B52E583FC}"/>
              </a:ext>
            </a:extLst>
          </p:cNvPr>
          <p:cNvSpPr/>
          <p:nvPr/>
        </p:nvSpPr>
        <p:spPr>
          <a:xfrm>
            <a:off x="174983" y="5154714"/>
            <a:ext cx="3816790" cy="1569660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253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292FD38-BF94-8882-83D0-21241928FBBB}"/>
              </a:ext>
            </a:extLst>
          </p:cNvPr>
          <p:cNvSpPr/>
          <p:nvPr/>
        </p:nvSpPr>
        <p:spPr>
          <a:xfrm>
            <a:off x="91241" y="2908629"/>
            <a:ext cx="5873853" cy="3876411"/>
          </a:xfrm>
          <a:prstGeom prst="roundRect">
            <a:avLst>
              <a:gd name="adj" fmla="val 8297"/>
            </a:avLst>
          </a:prstGeom>
          <a:solidFill>
            <a:srgbClr val="D0CECE">
              <a:alpha val="38824"/>
            </a:srgbClr>
          </a:solidFill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76BE1A6-287F-8F59-E4D9-283FAD0A4340}"/>
              </a:ext>
            </a:extLst>
          </p:cNvPr>
          <p:cNvSpPr txBox="1">
            <a:spLocks/>
          </p:cNvSpPr>
          <p:nvPr/>
        </p:nvSpPr>
        <p:spPr>
          <a:xfrm>
            <a:off x="6248945" y="-59725"/>
            <a:ext cx="5865751" cy="754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Что мы сделали (предобработка)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5EB66-15A6-6632-361F-3CC15359E7E4}"/>
              </a:ext>
            </a:extLst>
          </p:cNvPr>
          <p:cNvSpPr txBox="1"/>
          <p:nvPr/>
        </p:nvSpPr>
        <p:spPr>
          <a:xfrm>
            <a:off x="6099088" y="928322"/>
            <a:ext cx="60929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Объединили два датасета(«users_ab.csv » и «events_ab.csv ») в один для удобства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Привели столбцы к стандарту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Почистили дубликаты и убрали</a:t>
            </a:r>
            <a:r>
              <a:rPr lang="en-US" dirty="0"/>
              <a:t> </a:t>
            </a:r>
            <a:r>
              <a:rPr lang="ru-RU" dirty="0"/>
              <a:t>не нужные столбцы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Удалили выбросы в столбце «</a:t>
            </a:r>
            <a:r>
              <a:rPr lang="en-US" dirty="0"/>
              <a:t>age</a:t>
            </a:r>
            <a:r>
              <a:rPr lang="ru-RU" dirty="0"/>
              <a:t>» согласно ТЗ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Привели в порядок названия строк в столбце «</a:t>
            </a:r>
            <a:r>
              <a:rPr lang="en-US" dirty="0"/>
              <a:t>device</a:t>
            </a:r>
            <a:r>
              <a:rPr lang="ru-RU" dirty="0"/>
              <a:t>»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Удалили последний день (он заполнен не полностью и будет оказывать влияние на исследование)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Поработали со столбцом </a:t>
            </a:r>
            <a:r>
              <a:rPr lang="en-US" dirty="0"/>
              <a:t>city</a:t>
            </a:r>
            <a:r>
              <a:rPr lang="ru-RU" dirty="0"/>
              <a:t>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Удалили аномалии когда пользователь зарегистрировался позже, чем совершил какое-то действие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Проверили не было ли событие </a:t>
            </a:r>
            <a:r>
              <a:rPr lang="ru-RU" dirty="0" err="1"/>
              <a:t>logout</a:t>
            </a:r>
            <a:r>
              <a:rPr lang="ru-RU" dirty="0"/>
              <a:t>  раньше </a:t>
            </a:r>
            <a:r>
              <a:rPr lang="ru-RU" dirty="0" err="1"/>
              <a:t>login</a:t>
            </a:r>
            <a:r>
              <a:rPr lang="ru-RU" dirty="0"/>
              <a:t> в рамках одной сессии – не было, всё </a:t>
            </a:r>
            <a:r>
              <a:rPr lang="ru-RU" dirty="0" err="1"/>
              <a:t>ок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Заполнили пропуски в столбце </a:t>
            </a:r>
            <a:r>
              <a:rPr lang="en-US" dirty="0"/>
              <a:t>device</a:t>
            </a:r>
            <a:r>
              <a:rPr lang="ru-RU" dirty="0"/>
              <a:t>, путём создания модельки и поиска соседей (</a:t>
            </a:r>
            <a:r>
              <a:rPr lang="en-US" dirty="0"/>
              <a:t>KNN)</a:t>
            </a:r>
            <a:r>
              <a:rPr lang="ru-RU" dirty="0"/>
              <a:t> для пользователей у которых было неизвестно устройство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Удалили аномалии когда время сессии было менее 1 секунды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A61CA-DA96-E7F1-C5D1-71DB66B8D3E2}"/>
              </a:ext>
            </a:extLst>
          </p:cNvPr>
          <p:cNvSpPr txBox="1"/>
          <p:nvPr/>
        </p:nvSpPr>
        <p:spPr>
          <a:xfrm>
            <a:off x="45619" y="-2"/>
            <a:ext cx="5965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+mj-lt"/>
              </a:rPr>
              <a:t>Что у нас есть (структура данных)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881F9-E045-F2B5-A8B6-B3C16F943D2F}"/>
              </a:ext>
            </a:extLst>
          </p:cNvPr>
          <p:cNvSpPr txBox="1"/>
          <p:nvPr/>
        </p:nvSpPr>
        <p:spPr>
          <a:xfrm>
            <a:off x="261512" y="3139399"/>
            <a:ext cx="39116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До обработки: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Количество строк: 334308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Количество пользователей: 5000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Количество дней: 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07494-0125-E414-314E-9AC79A43D812}"/>
              </a:ext>
            </a:extLst>
          </p:cNvPr>
          <p:cNvSpPr txBox="1"/>
          <p:nvPr/>
        </p:nvSpPr>
        <p:spPr>
          <a:xfrm>
            <a:off x="261512" y="4586029"/>
            <a:ext cx="54420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5">
                    <a:lumMod val="75000"/>
                  </a:schemeClr>
                </a:solidFill>
              </a:rPr>
              <a:t>После обработки: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Количество строк: 316218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Количество пользователей: 4769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Данные с 2025-10-27 по 2025-11-09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Количество дней: 14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ru-RU" dirty="0"/>
              <a:t>Города: 'Другой', 'Москва', 'Новосибирск’, 'Орел'</a:t>
            </a:r>
          </a:p>
          <a:p>
            <a:pPr latinLnBrk="1"/>
            <a:r>
              <a:rPr lang="ru-RU" dirty="0"/>
              <a:t>      'Санкт-Петербург', 'Екатеринбург', 'Сыктывкар'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4A696D-A17B-5DE3-1C0B-7447EB290931}"/>
              </a:ext>
            </a:extLst>
          </p:cNvPr>
          <p:cNvSpPr txBox="1"/>
          <p:nvPr/>
        </p:nvSpPr>
        <p:spPr>
          <a:xfrm>
            <a:off x="214143" y="678919"/>
            <a:ext cx="55368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Датасет банка «Деньги для Вас», которые провели </a:t>
            </a:r>
            <a:r>
              <a:rPr lang="en-US" dirty="0"/>
              <a:t>A/B</a:t>
            </a:r>
            <a:r>
              <a:rPr lang="ru-RU" dirty="0"/>
              <a:t> тест, в результате которого получилось две группы. </a:t>
            </a:r>
            <a:r>
              <a:rPr lang="ru-RU" u="sng" dirty="0"/>
              <a:t>Группа A (Контрольная): </a:t>
            </a:r>
            <a:r>
              <a:rPr lang="ru-RU" dirty="0"/>
              <a:t>Пользователи продолжали использовать приложение со старым интерфейсом. </a:t>
            </a:r>
            <a:r>
              <a:rPr lang="ru-RU" u="sng" dirty="0"/>
              <a:t>Группа B (Тестовая):</a:t>
            </a:r>
            <a:r>
              <a:rPr lang="ru-RU" dirty="0"/>
              <a:t> Пользователям был предоставлен доступ к новому интерфейсу. И нам необходимо оценить успешность </a:t>
            </a:r>
            <a:r>
              <a:rPr lang="en-US" dirty="0"/>
              <a:t>A/B </a:t>
            </a:r>
            <a:r>
              <a:rPr lang="ru-RU" dirty="0"/>
              <a:t>теста</a:t>
            </a:r>
          </a:p>
          <a:p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5A2C861-81D3-5350-4C9E-7D490F5A304F}"/>
              </a:ext>
            </a:extLst>
          </p:cNvPr>
          <p:cNvSpPr/>
          <p:nvPr/>
        </p:nvSpPr>
        <p:spPr>
          <a:xfrm>
            <a:off x="91241" y="676706"/>
            <a:ext cx="5873853" cy="2064237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6FF6DFB6-D8FE-374E-0607-0B12C1929DB9}"/>
              </a:ext>
            </a:extLst>
          </p:cNvPr>
          <p:cNvSpPr/>
          <p:nvPr/>
        </p:nvSpPr>
        <p:spPr>
          <a:xfrm>
            <a:off x="6135365" y="685396"/>
            <a:ext cx="5965394" cy="6108334"/>
          </a:xfrm>
          <a:prstGeom prst="roundRect">
            <a:avLst>
              <a:gd name="adj" fmla="val 5619"/>
            </a:avLst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69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0ACF1-0939-2665-FA17-8EB279740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921"/>
            <a:ext cx="10515600" cy="707462"/>
          </a:xfrm>
        </p:spPr>
        <p:txBody>
          <a:bodyPr>
            <a:normAutofit/>
          </a:bodyPr>
          <a:lstStyle/>
          <a:p>
            <a:r>
              <a:rPr lang="ru-RU" sz="3200" dirty="0"/>
              <a:t>Ключевые результаты А/Б-теста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3ADDE-7C8F-3AF9-3106-5EE1A5E2A9A2}"/>
              </a:ext>
            </a:extLst>
          </p:cNvPr>
          <p:cNvSpPr txBox="1"/>
          <p:nvPr/>
        </p:nvSpPr>
        <p:spPr>
          <a:xfrm>
            <a:off x="0" y="488908"/>
            <a:ext cx="12486968" cy="1992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50" dirty="0"/>
              <a:t>В результате предварительного анализа у нас сформировалось </a:t>
            </a:r>
            <a:r>
              <a:rPr lang="ru-RU" sz="1750" b="1" dirty="0">
                <a:solidFill>
                  <a:schemeClr val="accent5">
                    <a:lumMod val="75000"/>
                  </a:schemeClr>
                </a:solidFill>
              </a:rPr>
              <a:t>4 гипотезы: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/>
              <a:t>Гипотеза 1: Среднее количество просмотров различных разделов на пользователя в группе B больше, чем в группе 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/>
              <a:t>Гипотеза 2: Время, проведенное в приложении (длина сессии), в группе B больше, чем в группе 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/>
              <a:t>Гипотеза 3: Среднее количество сессий на пользователя в группе B больше, чем в группе 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750" dirty="0"/>
              <a:t>Гипотеза 4: </a:t>
            </a:r>
            <a:r>
              <a:rPr lang="ru-RU" dirty="0"/>
              <a:t>У пользователей с </a:t>
            </a:r>
            <a:r>
              <a:rPr lang="ru-RU" dirty="0" err="1"/>
              <a:t>Android</a:t>
            </a:r>
            <a:r>
              <a:rPr lang="ru-RU" dirty="0"/>
              <a:t> из группы B в среднем больше транзакций на одного пользователя, чем у пользователей с </a:t>
            </a:r>
            <a:r>
              <a:rPr lang="ru-RU" dirty="0" err="1"/>
              <a:t>Android</a:t>
            </a:r>
            <a:r>
              <a:rPr lang="ru-RU" dirty="0"/>
              <a:t> из группы 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6D219-61DC-C9F2-2640-5EE3C8F843CA}"/>
              </a:ext>
            </a:extLst>
          </p:cNvPr>
          <p:cNvSpPr txBox="1"/>
          <p:nvPr/>
        </p:nvSpPr>
        <p:spPr>
          <a:xfrm>
            <a:off x="100327" y="2280650"/>
            <a:ext cx="399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правильного выбора </a:t>
            </a:r>
            <a:r>
              <a:rPr lang="ru-RU" dirty="0" err="1"/>
              <a:t>статметода</a:t>
            </a:r>
            <a:r>
              <a:rPr lang="ru-RU" dirty="0"/>
              <a:t> нам необходимо проверить равенство дисперсий. Для этого будем использовать тест </a:t>
            </a:r>
            <a:r>
              <a:rPr lang="ru-RU" dirty="0" err="1"/>
              <a:t>Левене</a:t>
            </a:r>
            <a:r>
              <a:rPr lang="ru-RU" dirty="0"/>
              <a:t>: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43D402E9-35C0-AFB3-2337-8BCC22755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368531"/>
              </p:ext>
            </p:extLst>
          </p:nvPr>
        </p:nvGraphicFramePr>
        <p:xfrm>
          <a:off x="153805" y="3744896"/>
          <a:ext cx="382474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916">
                  <a:extLst>
                    <a:ext uri="{9D8B030D-6E8A-4147-A177-3AD203B41FA5}">
                      <a16:colId xmlns:a16="http://schemas.microsoft.com/office/drawing/2014/main" val="1438966024"/>
                    </a:ext>
                  </a:extLst>
                </a:gridCol>
                <a:gridCol w="1274916">
                  <a:extLst>
                    <a:ext uri="{9D8B030D-6E8A-4147-A177-3AD203B41FA5}">
                      <a16:colId xmlns:a16="http://schemas.microsoft.com/office/drawing/2014/main" val="1199846929"/>
                    </a:ext>
                  </a:extLst>
                </a:gridCol>
                <a:gridCol w="1274916">
                  <a:extLst>
                    <a:ext uri="{9D8B030D-6E8A-4147-A177-3AD203B41FA5}">
                      <a16:colId xmlns:a16="http://schemas.microsoft.com/office/drawing/2014/main" val="1950377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Гипотеза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Statictic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096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Гипотеза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15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Гипотеза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98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Гипотеза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133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Гипотеза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15263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F4A864D-2823-F4CC-1969-D68C37F5EC8C}"/>
              </a:ext>
            </a:extLst>
          </p:cNvPr>
          <p:cNvSpPr txBox="1"/>
          <p:nvPr/>
        </p:nvSpPr>
        <p:spPr>
          <a:xfrm>
            <a:off x="4919235" y="2354535"/>
            <a:ext cx="2353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Пороговое значение</a:t>
            </a:r>
          </a:p>
          <a:p>
            <a:r>
              <a:rPr lang="ru-RU" dirty="0"/>
              <a:t>Альфа = 0.05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DDB534-9939-15CA-7A50-58AFEFDF6475}"/>
              </a:ext>
            </a:extLst>
          </p:cNvPr>
          <p:cNvSpPr txBox="1"/>
          <p:nvPr/>
        </p:nvSpPr>
        <p:spPr>
          <a:xfrm>
            <a:off x="4135072" y="3407341"/>
            <a:ext cx="4075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Мы видим что для всех трёх гипотез </a:t>
            </a:r>
            <a:r>
              <a:rPr lang="en-US" dirty="0"/>
              <a:t>p-value </a:t>
            </a:r>
            <a:r>
              <a:rPr lang="ru-RU" dirty="0"/>
              <a:t>получился менее порогового значения и следовательно дисперсии групп одной гипотезы не равны между собой. Нормальность данных нам не обязательна, поскольку количество данных более 30 и работает ЦПТ.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83AADABD-D3C8-ABE9-28E0-F213B36ED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740192"/>
              </p:ext>
            </p:extLst>
          </p:nvPr>
        </p:nvGraphicFramePr>
        <p:xfrm>
          <a:off x="8092559" y="3744896"/>
          <a:ext cx="395626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7181">
                  <a:extLst>
                    <a:ext uri="{9D8B030D-6E8A-4147-A177-3AD203B41FA5}">
                      <a16:colId xmlns:a16="http://schemas.microsoft.com/office/drawing/2014/main" val="1438966024"/>
                    </a:ext>
                  </a:extLst>
                </a:gridCol>
                <a:gridCol w="1305179">
                  <a:extLst>
                    <a:ext uri="{9D8B030D-6E8A-4147-A177-3AD203B41FA5}">
                      <a16:colId xmlns:a16="http://schemas.microsoft.com/office/drawing/2014/main" val="1199846929"/>
                    </a:ext>
                  </a:extLst>
                </a:gridCol>
                <a:gridCol w="1333909">
                  <a:extLst>
                    <a:ext uri="{9D8B030D-6E8A-4147-A177-3AD203B41FA5}">
                      <a16:colId xmlns:a16="http://schemas.microsoft.com/office/drawing/2014/main" val="1950377009"/>
                    </a:ext>
                  </a:extLst>
                </a:gridCol>
              </a:tblGrid>
              <a:tr h="352395">
                <a:tc>
                  <a:txBody>
                    <a:bodyPr/>
                    <a:lstStyle/>
                    <a:p>
                      <a:r>
                        <a:rPr lang="ru-RU" dirty="0"/>
                        <a:t>Гипотеза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T-statistic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096428"/>
                  </a:ext>
                </a:extLst>
              </a:tr>
              <a:tr h="352395">
                <a:tc>
                  <a:txBody>
                    <a:bodyPr/>
                    <a:lstStyle/>
                    <a:p>
                      <a:r>
                        <a:rPr lang="ru-RU" dirty="0"/>
                        <a:t>Гипотеза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15764"/>
                  </a:ext>
                </a:extLst>
              </a:tr>
              <a:tr h="352395">
                <a:tc>
                  <a:txBody>
                    <a:bodyPr/>
                    <a:lstStyle/>
                    <a:p>
                      <a:r>
                        <a:rPr lang="ru-RU" dirty="0"/>
                        <a:t>Гипотеза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898591"/>
                  </a:ext>
                </a:extLst>
              </a:tr>
              <a:tr h="352395">
                <a:tc>
                  <a:txBody>
                    <a:bodyPr/>
                    <a:lstStyle/>
                    <a:p>
                      <a:r>
                        <a:rPr lang="ru-RU" dirty="0"/>
                        <a:t>Гипотеза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133045"/>
                  </a:ext>
                </a:extLst>
              </a:tr>
              <a:tr h="352395">
                <a:tc>
                  <a:txBody>
                    <a:bodyPr/>
                    <a:lstStyle/>
                    <a:p>
                      <a:r>
                        <a:rPr lang="ru-RU" dirty="0"/>
                        <a:t>Гипотеза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≈0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8857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403088A-CDAD-63C4-24A2-4FE7B06AB078}"/>
              </a:ext>
            </a:extLst>
          </p:cNvPr>
          <p:cNvSpPr txBox="1"/>
          <p:nvPr/>
        </p:nvSpPr>
        <p:spPr>
          <a:xfrm>
            <a:off x="8092559" y="2280650"/>
            <a:ext cx="3849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Проверять гипотезы будем при помощи односторонний </a:t>
            </a:r>
            <a:r>
              <a:rPr lang="ru-RU" dirty="0" err="1"/>
              <a:t>двухвыборочного</a:t>
            </a:r>
            <a:r>
              <a:rPr lang="ru-RU" dirty="0"/>
              <a:t> Т-тест </a:t>
            </a:r>
            <a:r>
              <a:rPr lang="ru-RU" dirty="0" err="1"/>
              <a:t>Уэльча</a:t>
            </a:r>
            <a:r>
              <a:rPr lang="ru-RU" dirty="0"/>
              <a:t> (для разных дисперсий):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AAE27A-C9EE-05FF-4332-B77A290AF465}"/>
              </a:ext>
            </a:extLst>
          </p:cNvPr>
          <p:cNvSpPr txBox="1"/>
          <p:nvPr/>
        </p:nvSpPr>
        <p:spPr>
          <a:xfrm>
            <a:off x="76807" y="5805109"/>
            <a:ext cx="1211519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50" b="1" dirty="0">
                <a:solidFill>
                  <a:schemeClr val="accent5">
                    <a:lumMod val="75000"/>
                  </a:schemeClr>
                </a:solidFill>
              </a:rPr>
              <a:t>Итог:</a:t>
            </a:r>
            <a:r>
              <a:rPr lang="ru-RU" sz="1750" b="1" dirty="0"/>
              <a:t> </a:t>
            </a:r>
            <a:r>
              <a:rPr lang="ru-RU" sz="1750" dirty="0"/>
              <a:t>Мы видим что при проверки всех наших 4 гипотез </a:t>
            </a:r>
            <a:r>
              <a:rPr lang="en-US" sz="1750" dirty="0"/>
              <a:t>p-value</a:t>
            </a:r>
            <a:r>
              <a:rPr lang="ru-RU" sz="1750" dirty="0"/>
              <a:t> получился меньше альфа (</a:t>
            </a:r>
            <a:r>
              <a:rPr lang="en-US" sz="1750" dirty="0"/>
              <a:t>p-value &lt; 0.05)</a:t>
            </a:r>
            <a:r>
              <a:rPr lang="ru-RU" sz="1750" dirty="0"/>
              <a:t>, а значит все 4 гипотезы подтвердились</a:t>
            </a:r>
            <a:r>
              <a:rPr lang="en-US" sz="1750" dirty="0"/>
              <a:t>. </a:t>
            </a:r>
            <a:r>
              <a:rPr lang="ru-RU" sz="1750" dirty="0"/>
              <a:t>Следовательно </a:t>
            </a:r>
            <a:r>
              <a:rPr lang="en-US" sz="1750" dirty="0"/>
              <a:t>A/B </a:t>
            </a:r>
            <a:r>
              <a:rPr lang="ru-RU" sz="1750" dirty="0"/>
              <a:t>тест прошёл удачно и в новой версии приложения, пользователи чаще просматривают различные разделы, проводят большее время в приложении и у них больше сессий.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983341-B860-6EEF-0DE3-FE04E0F6CF2F}"/>
              </a:ext>
            </a:extLst>
          </p:cNvPr>
          <p:cNvSpPr/>
          <p:nvPr/>
        </p:nvSpPr>
        <p:spPr>
          <a:xfrm>
            <a:off x="83574" y="2267731"/>
            <a:ext cx="3991897" cy="3467015"/>
          </a:xfrm>
          <a:prstGeom prst="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28134C7-7F6F-A4C5-1039-E58AF2B72F1A}"/>
              </a:ext>
            </a:extLst>
          </p:cNvPr>
          <p:cNvSpPr/>
          <p:nvPr/>
        </p:nvSpPr>
        <p:spPr>
          <a:xfrm>
            <a:off x="8032958" y="2264209"/>
            <a:ext cx="4075470" cy="3467015"/>
          </a:xfrm>
          <a:prstGeom prst="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C75E981-9416-49A6-092D-CF408D02447D}"/>
              </a:ext>
            </a:extLst>
          </p:cNvPr>
          <p:cNvSpPr/>
          <p:nvPr/>
        </p:nvSpPr>
        <p:spPr>
          <a:xfrm>
            <a:off x="4831938" y="2318387"/>
            <a:ext cx="2504154" cy="707462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0CCA4DC-B87B-14EC-430E-96DEDE90F574}"/>
              </a:ext>
            </a:extLst>
          </p:cNvPr>
          <p:cNvSpPr/>
          <p:nvPr/>
        </p:nvSpPr>
        <p:spPr>
          <a:xfrm>
            <a:off x="76807" y="5863013"/>
            <a:ext cx="12031620" cy="842342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084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EF73C-23A5-DC96-C6E6-5BAB1BAA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23888"/>
          </a:xfrm>
        </p:spPr>
        <p:txBody>
          <a:bodyPr>
            <a:normAutofit/>
          </a:bodyPr>
          <a:lstStyle/>
          <a:p>
            <a:r>
              <a:rPr lang="ru-RU" sz="3200" dirty="0"/>
              <a:t>Графики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1074BC2-82A9-DFDB-CA4C-AD91B59D7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939" y="2417654"/>
            <a:ext cx="6202061" cy="444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B1A472C-FC22-7F20-EE6E-67D8C2DD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888"/>
            <a:ext cx="5934198" cy="444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82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D01D1C-8678-1559-2C22-22534D2D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23888"/>
          </a:xfrm>
        </p:spPr>
        <p:txBody>
          <a:bodyPr>
            <a:normAutofit/>
          </a:bodyPr>
          <a:lstStyle/>
          <a:p>
            <a:r>
              <a:rPr lang="ru-RU" sz="3200" dirty="0"/>
              <a:t>Графики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9D6D78-C8DC-2F70-C817-0FCDB8706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888"/>
            <a:ext cx="6096000" cy="372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0FA9DA2-EA17-6CAC-EF80-AB8718303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234" y="2321242"/>
            <a:ext cx="6858766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1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87904-D34C-CCD3-4851-3CD91AD1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322"/>
            <a:ext cx="10515600" cy="640715"/>
          </a:xfrm>
        </p:spPr>
        <p:txBody>
          <a:bodyPr>
            <a:normAutofit/>
          </a:bodyPr>
          <a:lstStyle/>
          <a:p>
            <a:r>
              <a:rPr lang="ru-RU" sz="3200" dirty="0"/>
              <a:t>Прогнозная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689BBF-8DE7-FC91-12B6-36780EADD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599757"/>
            <a:ext cx="11948160" cy="1840288"/>
          </a:xfrm>
        </p:spPr>
        <p:txBody>
          <a:bodyPr>
            <a:noAutofit/>
          </a:bodyPr>
          <a:lstStyle/>
          <a:p>
            <a:r>
              <a:rPr lang="ru-RU" sz="1750" dirty="0"/>
              <a:t>Для прогнозирования ежедневной посещаемости (</a:t>
            </a:r>
            <a:r>
              <a:rPr lang="ru-RU" sz="1750" dirty="0" err="1"/>
              <a:t>visits</a:t>
            </a:r>
            <a:r>
              <a:rPr lang="ru-RU" sz="1750" dirty="0"/>
              <a:t>) мы решили использовать линейную регрессию (</a:t>
            </a:r>
            <a:r>
              <a:rPr lang="en-US" sz="1750" dirty="0" err="1"/>
              <a:t>LinearRegression</a:t>
            </a:r>
            <a:r>
              <a:rPr lang="ru-RU" sz="1750" dirty="0"/>
              <a:t>). Предварительно мы подготовили данные, удалив выбросы по </a:t>
            </a:r>
            <a:r>
              <a:rPr lang="en-US" sz="1750" dirty="0"/>
              <a:t>IQR (</a:t>
            </a:r>
            <a:r>
              <a:rPr lang="ru-RU" sz="1750" dirty="0"/>
              <a:t>4 строки)</a:t>
            </a:r>
            <a:r>
              <a:rPr lang="en-US" sz="1750" dirty="0"/>
              <a:t>.</a:t>
            </a:r>
            <a:r>
              <a:rPr lang="ru-RU" sz="1750" dirty="0"/>
              <a:t> При построение модели мы использовали </a:t>
            </a:r>
            <a:r>
              <a:rPr lang="en-US" sz="1750" dirty="0"/>
              <a:t>["</a:t>
            </a:r>
            <a:r>
              <a:rPr lang="en-US" sz="1750" dirty="0" err="1"/>
              <a:t>is_weekend</a:t>
            </a:r>
            <a:r>
              <a:rPr lang="en-US" sz="1750" dirty="0"/>
              <a:t>", "</a:t>
            </a:r>
            <a:r>
              <a:rPr lang="en-US" sz="1750" dirty="0" err="1"/>
              <a:t>holiday_flag</a:t>
            </a:r>
            <a:r>
              <a:rPr lang="en-US" sz="1750" dirty="0"/>
              <a:t>", "</a:t>
            </a:r>
            <a:r>
              <a:rPr lang="en-US" sz="1750" dirty="0" err="1"/>
              <a:t>day_of_week_num</a:t>
            </a:r>
            <a:r>
              <a:rPr lang="en-US" sz="1750" dirty="0"/>
              <a:t>", "visits_lag1", "visits_lag7"]</a:t>
            </a:r>
            <a:r>
              <a:rPr lang="ru-RU" sz="1750" dirty="0"/>
              <a:t>. Эти признаки вместе объясняют временные, циклические и поведенческие закономерности посещаемости. </a:t>
            </a:r>
          </a:p>
          <a:p>
            <a:r>
              <a:rPr lang="ru-RU" sz="1750" dirty="0"/>
              <a:t>А так же на основе полученного результата составили гипотезу: «Количество посещений зависит от того был выходной или будний день». </a:t>
            </a:r>
            <a:r>
              <a:rPr lang="en-US" sz="1750" dirty="0"/>
              <a:t>P-value </a:t>
            </a:r>
            <a:r>
              <a:rPr lang="ru-RU" sz="1750" dirty="0"/>
              <a:t>получился менее порогового значения в 0.05, следовательно наша гипотеза подтвердилась и мы можем видеть что количество посещений в будние больше, чем в выходные.</a:t>
            </a:r>
          </a:p>
        </p:txBody>
      </p:sp>
      <p:pic>
        <p:nvPicPr>
          <p:cNvPr id="5" name="Рисунок 4" descr="Изображение выглядит как текст, линия, Шрифт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7AA2A2-7208-32D9-F899-94A2016BB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7845"/>
            <a:ext cx="12192000" cy="3381896"/>
          </a:xfrm>
          <a:prstGeom prst="rect">
            <a:avLst/>
          </a:prstGeom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FB965AE-E0AC-27B5-C90A-DAD8229B2171}"/>
              </a:ext>
            </a:extLst>
          </p:cNvPr>
          <p:cNvGrpSpPr/>
          <p:nvPr/>
        </p:nvGrpSpPr>
        <p:grpSpPr>
          <a:xfrm>
            <a:off x="121920" y="6015242"/>
            <a:ext cx="9908482" cy="721417"/>
            <a:chOff x="132080" y="6096261"/>
            <a:chExt cx="9908482" cy="72141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F560A3-27DB-3AE3-671F-625BC2C7F7FC}"/>
                </a:ext>
              </a:extLst>
            </p:cNvPr>
            <p:cNvSpPr txBox="1"/>
            <p:nvPr/>
          </p:nvSpPr>
          <p:spPr>
            <a:xfrm>
              <a:off x="132080" y="6096261"/>
              <a:ext cx="99084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1"/>
              <a:r>
                <a:rPr lang="ru-RU" b="1" dirty="0">
                  <a:solidFill>
                    <a:schemeClr val="accent5">
                      <a:lumMod val="75000"/>
                    </a:schemeClr>
                  </a:solidFill>
                </a:rPr>
                <a:t>Интерпретация</a:t>
              </a:r>
              <a:r>
                <a:rPr lang="ru-RU" dirty="0"/>
                <a:t> полученного результата при помощи</a:t>
              </a:r>
              <a:r>
                <a:rPr lang="en-US" dirty="0"/>
                <a:t> </a:t>
              </a:r>
              <a:r>
                <a:rPr lang="ru-RU" dirty="0"/>
                <a:t>метрик MAE, MAPE, RMSE: </a:t>
              </a:r>
            </a:p>
            <a:p>
              <a:pPr latinLnBrk="1"/>
              <a:r>
                <a:rPr lang="ru-RU" dirty="0"/>
                <a:t>Модель ошибается в среднем на </a:t>
              </a:r>
              <a:r>
                <a:rPr lang="ru-RU" u="sng" dirty="0"/>
                <a:t>1136</a:t>
              </a:r>
              <a:r>
                <a:rPr lang="ru-RU" dirty="0"/>
                <a:t> посещений, что составляет </a:t>
              </a:r>
              <a:r>
                <a:rPr lang="ru-RU" u="sng" dirty="0"/>
                <a:t>9.3% </a:t>
              </a:r>
              <a:r>
                <a:rPr lang="ru-RU" dirty="0"/>
                <a:t>от среднего значения</a:t>
              </a:r>
            </a:p>
          </p:txBody>
        </p:sp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27889260-B993-5BCD-9904-F4E489032E31}"/>
                </a:ext>
              </a:extLst>
            </p:cNvPr>
            <p:cNvSpPr/>
            <p:nvPr/>
          </p:nvSpPr>
          <p:spPr>
            <a:xfrm>
              <a:off x="132080" y="6096261"/>
              <a:ext cx="9908482" cy="721417"/>
            </a:xfrm>
            <a:prstGeom prst="roundRect">
              <a:avLst/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7F057B9-6D19-27AF-B6AA-7D96F1369C49}"/>
              </a:ext>
            </a:extLst>
          </p:cNvPr>
          <p:cNvSpPr/>
          <p:nvPr/>
        </p:nvSpPr>
        <p:spPr>
          <a:xfrm>
            <a:off x="121920" y="565627"/>
            <a:ext cx="11948160" cy="1977131"/>
          </a:xfrm>
          <a:prstGeom prst="roundRect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776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20330-6FC9-1446-1FEB-BC85BE6B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69"/>
            <a:ext cx="10515600" cy="654368"/>
          </a:xfrm>
        </p:spPr>
        <p:txBody>
          <a:bodyPr>
            <a:normAutofit/>
          </a:bodyPr>
          <a:lstStyle/>
          <a:p>
            <a:r>
              <a:rPr lang="ru-RU" sz="3200" dirty="0"/>
              <a:t>Выводы, рекомендации и предложения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1BC4351-769F-2984-082D-9B679052ED1B}"/>
              </a:ext>
            </a:extLst>
          </p:cNvPr>
          <p:cNvGrpSpPr/>
          <p:nvPr/>
        </p:nvGrpSpPr>
        <p:grpSpPr>
          <a:xfrm>
            <a:off x="396240" y="3743510"/>
            <a:ext cx="11399520" cy="2003979"/>
            <a:chOff x="350520" y="3748896"/>
            <a:chExt cx="11399520" cy="2003979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2658F9B4-E3E6-36B0-8024-594F163FAF72}"/>
                </a:ext>
              </a:extLst>
            </p:cNvPr>
            <p:cNvSpPr/>
            <p:nvPr/>
          </p:nvSpPr>
          <p:spPr>
            <a:xfrm>
              <a:off x="350520" y="3748896"/>
              <a:ext cx="11399520" cy="1781795"/>
            </a:xfrm>
            <a:prstGeom prst="roundRect">
              <a:avLst/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F77F4E-218D-558A-8EAE-48BC4B6D18B9}"/>
                </a:ext>
              </a:extLst>
            </p:cNvPr>
            <p:cNvSpPr txBox="1"/>
            <p:nvPr/>
          </p:nvSpPr>
          <p:spPr>
            <a:xfrm>
              <a:off x="350520" y="3813883"/>
              <a:ext cx="1130808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accent5">
                      <a:lumMod val="75000"/>
                    </a:schemeClr>
                  </a:solidFill>
                </a:rPr>
                <a:t>Предложения: </a:t>
              </a:r>
              <a:r>
                <a:rPr lang="ru-RU" sz="2000" dirty="0"/>
                <a:t>Провести </a:t>
              </a:r>
              <a:r>
                <a:rPr lang="en-US" sz="2000" dirty="0"/>
                <a:t>A/A</a:t>
              </a:r>
              <a:r>
                <a:rPr lang="ru-RU" sz="2000" dirty="0"/>
                <a:t>-тест чтобы убедиться можно ли доверять результатам нашего исследования. С новым дизайном приложения можно начать предлагать подписку пользователям и проанализировать их реакцию. Добавить в улучшенный дизайн приложения новые функции. Расширить датасет добавлением информацию о местоположении и виде деятельности пользователя и начать тестировать другие гипотезы.</a:t>
              </a:r>
            </a:p>
            <a:p>
              <a:endParaRPr lang="ru-RU" sz="2000"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275BA92-597F-6DF9-0EFF-5954A1210D58}"/>
              </a:ext>
            </a:extLst>
          </p:cNvPr>
          <p:cNvGrpSpPr/>
          <p:nvPr/>
        </p:nvGrpSpPr>
        <p:grpSpPr>
          <a:xfrm>
            <a:off x="396240" y="2349925"/>
            <a:ext cx="11399520" cy="1393585"/>
            <a:chOff x="350520" y="3589822"/>
            <a:chExt cx="11399520" cy="1558634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03B385D6-D90B-E67E-D2EE-98DF281579DF}"/>
                </a:ext>
              </a:extLst>
            </p:cNvPr>
            <p:cNvSpPr/>
            <p:nvPr/>
          </p:nvSpPr>
          <p:spPr>
            <a:xfrm>
              <a:off x="350520" y="3589822"/>
              <a:ext cx="11399520" cy="1358098"/>
            </a:xfrm>
            <a:prstGeom prst="roundRect">
              <a:avLst/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DBC791-17DC-250F-2716-7C208F15D0E3}"/>
                </a:ext>
              </a:extLst>
            </p:cNvPr>
            <p:cNvSpPr txBox="1"/>
            <p:nvPr/>
          </p:nvSpPr>
          <p:spPr>
            <a:xfrm>
              <a:off x="396240" y="3668275"/>
              <a:ext cx="11308080" cy="1480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accent5">
                      <a:lumMod val="75000"/>
                    </a:schemeClr>
                  </a:solidFill>
                </a:rPr>
                <a:t>Рекомендации: </a:t>
              </a:r>
              <a:r>
                <a:rPr lang="ru-RU" sz="2000" dirty="0"/>
                <a:t>Внедрить новый интерфейс для всех пользователей, поскольку </a:t>
              </a:r>
              <a:r>
                <a:rPr lang="en-US" sz="2000" dirty="0"/>
                <a:t>A/B </a:t>
              </a:r>
              <a:r>
                <a:rPr lang="ru-RU" sz="2000" dirty="0"/>
                <a:t>тест показал успешные результаты. И рассмотреть возможность разработки персональных акций для сегментов, которые отреагировали слабее.</a:t>
              </a:r>
            </a:p>
            <a:p>
              <a:endParaRPr lang="ru-RU" sz="2000" dirty="0"/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F83C8C5-825A-761D-3123-51B9996BEB19}"/>
              </a:ext>
            </a:extLst>
          </p:cNvPr>
          <p:cNvGrpSpPr/>
          <p:nvPr/>
        </p:nvGrpSpPr>
        <p:grpSpPr>
          <a:xfrm>
            <a:off x="396240" y="956340"/>
            <a:ext cx="11399520" cy="1393585"/>
            <a:chOff x="350520" y="3589822"/>
            <a:chExt cx="11399520" cy="1558634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C59BAC15-9602-36A3-08F6-B27F4373E658}"/>
                </a:ext>
              </a:extLst>
            </p:cNvPr>
            <p:cNvSpPr/>
            <p:nvPr/>
          </p:nvSpPr>
          <p:spPr>
            <a:xfrm>
              <a:off x="350520" y="3589822"/>
              <a:ext cx="11399520" cy="1358098"/>
            </a:xfrm>
            <a:prstGeom prst="roundRect">
              <a:avLst/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F7C7880-49D3-C316-9655-3BE1695518A5}"/>
                </a:ext>
              </a:extLst>
            </p:cNvPr>
            <p:cNvSpPr txBox="1"/>
            <p:nvPr/>
          </p:nvSpPr>
          <p:spPr>
            <a:xfrm>
              <a:off x="396240" y="3668275"/>
              <a:ext cx="11308080" cy="14801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>
                  <a:solidFill>
                    <a:schemeClr val="accent5">
                      <a:lumMod val="75000"/>
                    </a:schemeClr>
                  </a:solidFill>
                </a:rPr>
                <a:t>Выводы: </a:t>
              </a:r>
              <a:r>
                <a:rPr lang="ru-RU" sz="2000" dirty="0"/>
                <a:t>Новый интерфейс статистически значимо увеличил среднее количество сессий на 32%, среднее количество просмотров разделов на 32.4%, среднее время проведённое в приложении на 92% и количество транзакций у пользователей </a:t>
              </a:r>
              <a:r>
                <a:rPr lang="en-US" sz="2000" dirty="0"/>
                <a:t>IOS </a:t>
              </a:r>
              <a:r>
                <a:rPr lang="ru-RU" sz="2000" dirty="0"/>
                <a:t>на 35.3% .</a:t>
              </a:r>
            </a:p>
            <a:p>
              <a:endParaRPr lang="ru-RU" sz="20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5B19994-EF98-B568-F763-C60D9299C3B2}"/>
              </a:ext>
            </a:extLst>
          </p:cNvPr>
          <p:cNvGrpSpPr/>
          <p:nvPr/>
        </p:nvGrpSpPr>
        <p:grpSpPr>
          <a:xfrm>
            <a:off x="396240" y="5704606"/>
            <a:ext cx="11399520" cy="814434"/>
            <a:chOff x="259080" y="5699601"/>
            <a:chExt cx="11399520" cy="8144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795A329-A01D-BCDF-0CE9-BFCB87D7ACAD}"/>
                </a:ext>
              </a:extLst>
            </p:cNvPr>
            <p:cNvSpPr txBox="1"/>
            <p:nvPr/>
          </p:nvSpPr>
          <p:spPr>
            <a:xfrm>
              <a:off x="350520" y="5752875"/>
              <a:ext cx="795773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Ссылка на визуализацию нашего решения через 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</a:rPr>
                <a:t>Yandex </a:t>
              </a:r>
              <a:r>
                <a:rPr lang="en-US" sz="2000" b="1" dirty="0" err="1">
                  <a:solidFill>
                    <a:schemeClr val="accent5">
                      <a:lumMod val="75000"/>
                    </a:schemeClr>
                  </a:solidFill>
                </a:rPr>
                <a:t>DataLens</a:t>
              </a:r>
              <a:r>
                <a:rPr lang="en-US" sz="2000" b="1" dirty="0">
                  <a:solidFill>
                    <a:schemeClr val="accent5">
                      <a:lumMod val="75000"/>
                    </a:schemeClr>
                  </a:solidFill>
                </a:rPr>
                <a:t>:</a:t>
              </a:r>
            </a:p>
            <a:p>
              <a:r>
                <a:rPr lang="en-US" sz="2000" dirty="0"/>
                <a:t>https://datalens.yandex/1khnal3tgv70m</a:t>
              </a:r>
              <a:endParaRPr lang="ru-RU" sz="2000" dirty="0"/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DC1257C2-37CA-F2D6-749C-6EB7C99E68BD}"/>
                </a:ext>
              </a:extLst>
            </p:cNvPr>
            <p:cNvSpPr/>
            <p:nvPr/>
          </p:nvSpPr>
          <p:spPr>
            <a:xfrm>
              <a:off x="259080" y="5699601"/>
              <a:ext cx="11399520" cy="814434"/>
            </a:xfrm>
            <a:prstGeom prst="roundRect">
              <a:avLst>
                <a:gd name="adj" fmla="val 34491"/>
              </a:avLst>
            </a:prstGeom>
            <a:noFill/>
            <a:ln w="381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885779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891</Words>
  <Application>Microsoft Office PowerPoint</Application>
  <PresentationFormat>Широкоэкранный</PresentationFormat>
  <Paragraphs>88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«Деньги для вас», а данные для нас</vt:lpstr>
      <vt:lpstr>Презентация PowerPoint</vt:lpstr>
      <vt:lpstr>Ключевые результаты А/Б-теста</vt:lpstr>
      <vt:lpstr>Графики</vt:lpstr>
      <vt:lpstr>Графики</vt:lpstr>
      <vt:lpstr>Прогнозная модель</vt:lpstr>
      <vt:lpstr>Выводы, рекомендации и предложения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Gleb VVV</dc:creator>
  <cp:lastModifiedBy>Gleb VVV</cp:lastModifiedBy>
  <cp:revision>19</cp:revision>
  <dcterms:created xsi:type="dcterms:W3CDTF">2025-12-12T17:42:45Z</dcterms:created>
  <dcterms:modified xsi:type="dcterms:W3CDTF">2025-12-15T13:29:16Z</dcterms:modified>
</cp:coreProperties>
</file>